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3" r:id="rId12"/>
    <p:sldId id="269" r:id="rId13"/>
    <p:sldId id="270" r:id="rId14"/>
    <p:sldId id="264" r:id="rId15"/>
    <p:sldId id="265" r:id="rId16"/>
    <p:sldId id="271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122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914400"/>
            <a:ext cx="1304282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OJT Part 2 Internship – Data Analysis Projects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436497"/>
            <a:ext cx="6628090" cy="1459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Presented by </a:t>
            </a:r>
            <a:r>
              <a:rPr lang="en-US" sz="40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Tirthanand Singh           </a:t>
            </a:r>
            <a:r>
              <a:rPr lang="en-US" sz="4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buNone/>
            </a:pPr>
            <a:r>
              <a:rPr lang="en-US" sz="4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Roll No: </a:t>
            </a:r>
            <a:r>
              <a:rPr lang="en-US" sz="40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FO1123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945888"/>
            <a:ext cx="13042821" cy="35957"/>
          </a:xfrm>
          <a:prstGeom prst="rect">
            <a:avLst/>
          </a:prstGeom>
          <a:solidFill>
            <a:srgbClr val="4B4A4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2389" y="5223139"/>
            <a:ext cx="12434531" cy="12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Conducted at </a:t>
            </a:r>
            <a:r>
              <a:rPr lang="en-US" sz="32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SyntaxHub</a:t>
            </a:r>
            <a:r>
              <a:rPr lang="en-US" sz="32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— A structured internship focused on applied data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analysis using Python and real-world datasets.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D02F8-0F64-2A2B-DFE1-B1136A4D050C}"/>
              </a:ext>
            </a:extLst>
          </p:cNvPr>
          <p:cNvSpPr txBox="1"/>
          <p:nvPr/>
        </p:nvSpPr>
        <p:spPr>
          <a:xfrm>
            <a:off x="7421880" y="2377398"/>
            <a:ext cx="641473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2025–2026</a:t>
            </a:r>
          </a:p>
          <a:p>
            <a:pPr algn="ctr"/>
            <a:r>
              <a:rPr lang="en-IN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ACSC, Alandi (D), Pune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B10182-A73C-2014-49E3-3301B9D7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302" y="7740514"/>
            <a:ext cx="1760418" cy="392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02920"/>
            <a:ext cx="3031450" cy="899756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952798"/>
            <a:ext cx="2754987" cy="169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4000" dirty="0">
                <a:solidFill>
                  <a:srgbClr val="006747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OVERVIEW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0436" y="1852554"/>
            <a:ext cx="9179481" cy="128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What Is This Internship About?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0436" y="3475196"/>
            <a:ext cx="6571417" cy="3321844"/>
          </a:xfrm>
          <a:prstGeom prst="roundRect">
            <a:avLst>
              <a:gd name="adj" fmla="val 11419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702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The Objective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4283154"/>
            <a:ext cx="6117788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Gain hands-on experience with real-world datasets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Apply Python-based data analysis techniques end-to-end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Build a strong foundation in Exploratory Data Analysis (EDA)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702010"/>
            <a:ext cx="38525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Why Data Analysis Matters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283154"/>
            <a:ext cx="6173629" cy="1770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Data drives decisions across industries — from business strategy to healthcare. Learning to clean, explore, and visualize data is a core skill for any analyst or data professional.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1149E2-7E63-6E31-45D1-71A4EFED9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571" y="7782855"/>
            <a:ext cx="2003583" cy="446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5442"/>
            <a:ext cx="1328618" cy="426244"/>
          </a:xfrm>
          <a:prstGeom prst="roundRect">
            <a:avLst>
              <a:gd name="adj" fmla="val 38315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43426"/>
            <a:ext cx="105644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TECH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192411"/>
            <a:ext cx="6475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Tools &amp; Libraries Used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41352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091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Python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58223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Core programming language for all data processing, analysis, and scripting tasks.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241352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091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Pandas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35893" y="358223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Data manipulation and DataFrame operations — loading, filtering, and transforming datasets.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241352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3091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NumPy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9677995" y="358223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Numerical computing library for mathematical operations and array handling.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24569"/>
            <a:ext cx="566976" cy="5669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90" y="5975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Matplotlib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93790" y="646545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Foundational plotting library for creating charts, histograms, and visual summaries.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5124569"/>
            <a:ext cx="566976" cy="5669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5893" y="5975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Seaborn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235893" y="646545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Statistical visualization library built on Matplotlib — cleaner, publication-ready plots.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B63BF8-2953-F6FB-A77B-71F4D5BAD0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91011" y="7767615"/>
            <a:ext cx="1832709" cy="408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6328" y="304205"/>
            <a:ext cx="3059906" cy="479226"/>
          </a:xfrm>
          <a:prstGeom prst="roundRect">
            <a:avLst>
              <a:gd name="adj" fmla="val 40643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43965" y="559951"/>
            <a:ext cx="2419826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800" dirty="0">
                <a:solidFill>
                  <a:srgbClr val="006747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7654" y="1006911"/>
            <a:ext cx="8536781" cy="479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0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Titanic Dataset — Exploratory Data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9114" y="2291856"/>
            <a:ext cx="1917144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Project Goal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6734" y="2751153"/>
            <a:ext cx="6591419" cy="112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Analyze the famous Titanic passenger dataset to uncover patterns in survival rates based on demographics, class, and other passenger attributes.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6734" y="4226009"/>
            <a:ext cx="1917144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Dataset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7154" y="4699115"/>
            <a:ext cx="6591419" cy="689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~891 passenger records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Features: Age, Gender, Class (Pclass), Fare, Embarked, and more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Target variable: </a:t>
            </a: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Survived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(0 or 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867" y="1486138"/>
            <a:ext cx="6591419" cy="659141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867" y="1486138"/>
            <a:ext cx="6591419" cy="6277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7BA3DB-7AC8-583E-414E-33AA5103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9760" y="7937362"/>
            <a:ext cx="1310640" cy="2922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F74103-66D1-D470-D638-431BF9B7E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1286" y="7624705"/>
            <a:ext cx="501215" cy="410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411480"/>
            <a:ext cx="6150650" cy="821889"/>
          </a:xfrm>
          <a:prstGeom prst="roundRect">
            <a:avLst>
              <a:gd name="adj" fmla="val 38315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990421" y="672703"/>
            <a:ext cx="6014562" cy="821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 1 · DATA PREPARATION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324094"/>
            <a:ext cx="57157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Data Cleaning Steps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373035"/>
            <a:ext cx="6407944" cy="2411254"/>
          </a:xfrm>
          <a:prstGeom prst="roundRect">
            <a:avLst>
              <a:gd name="adj" fmla="val 8466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03515"/>
            <a:ext cx="6346984" cy="680442"/>
          </a:xfrm>
          <a:prstGeom prst="roundRect">
            <a:avLst>
              <a:gd name="adj" fmla="val 24627"/>
            </a:avLst>
          </a:prstGeom>
          <a:solidFill>
            <a:srgbClr val="D1EFE4"/>
          </a:solidFill>
          <a:ln/>
        </p:spPr>
      </p:sp>
      <p:sp>
        <p:nvSpPr>
          <p:cNvPr id="7" name="Text 5"/>
          <p:cNvSpPr/>
          <p:nvPr/>
        </p:nvSpPr>
        <p:spPr>
          <a:xfrm>
            <a:off x="3827621" y="2527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3310771"/>
            <a:ext cx="3081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Missing Values — 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084" y="380118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Imputed missing Age values using the median to preserve distribution without introducing bias.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2373035"/>
            <a:ext cx="6408063" cy="2411254"/>
          </a:xfrm>
          <a:prstGeom prst="roundRect">
            <a:avLst>
              <a:gd name="adj" fmla="val 8466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9027" y="2403515"/>
            <a:ext cx="6347103" cy="680442"/>
          </a:xfrm>
          <a:prstGeom prst="roundRect">
            <a:avLst>
              <a:gd name="adj" fmla="val 24627"/>
            </a:avLst>
          </a:prstGeom>
          <a:solidFill>
            <a:srgbClr val="D1EFE4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2498" y="2527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5842" y="3310771"/>
            <a:ext cx="4037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Missing Values — Embarked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842" y="380118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Two missing Embarked entries were filled using the most frequent port value.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5011103"/>
            <a:ext cx="6407944" cy="2411254"/>
          </a:xfrm>
          <a:prstGeom prst="roundRect">
            <a:avLst>
              <a:gd name="adj" fmla="val 8466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270" y="5041583"/>
            <a:ext cx="6346984" cy="680442"/>
          </a:xfrm>
          <a:prstGeom prst="roundRect">
            <a:avLst>
              <a:gd name="adj" fmla="val 24627"/>
            </a:avLst>
          </a:prstGeom>
          <a:solidFill>
            <a:srgbClr val="D1EFE4"/>
          </a:solidFill>
          <a:ln/>
        </p:spPr>
      </p:sp>
      <p:sp>
        <p:nvSpPr>
          <p:cNvPr id="17" name="Text 15"/>
          <p:cNvSpPr/>
          <p:nvPr/>
        </p:nvSpPr>
        <p:spPr>
          <a:xfrm>
            <a:off x="3827621" y="5165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084" y="5948839"/>
            <a:ext cx="3397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Dropped</a:t>
            </a:r>
            <a:r>
              <a:rPr lang="en-US" sz="22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Cabin Column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1084" y="643925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Removed the </a:t>
            </a:r>
            <a:r>
              <a:rPr lang="en-US" sz="20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Cabin</a:t>
            </a: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column due to excessive missing data (~77% nulls).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011103"/>
            <a:ext cx="6408063" cy="2411254"/>
          </a:xfrm>
          <a:prstGeom prst="roundRect">
            <a:avLst>
              <a:gd name="adj" fmla="val 8466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B7D5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9027" y="5041583"/>
            <a:ext cx="6347103" cy="680442"/>
          </a:xfrm>
          <a:prstGeom prst="roundRect">
            <a:avLst>
              <a:gd name="adj" fmla="val 24627"/>
            </a:avLst>
          </a:prstGeom>
          <a:solidFill>
            <a:srgbClr val="D1EFE4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498" y="5165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4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5842" y="5948839"/>
            <a:ext cx="4166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Standardized Column Names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5842" y="643925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Renamed and cleaned column headers for consistency and easier referencing in code.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BF105D-131D-1A50-AC60-6055501A2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368" y="7800969"/>
            <a:ext cx="1756032" cy="391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5092" y="304801"/>
            <a:ext cx="4019788" cy="656392"/>
          </a:xfrm>
          <a:prstGeom prst="roundRect">
            <a:avLst>
              <a:gd name="adj" fmla="val 37805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50783"/>
            <a:ext cx="2225040" cy="81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dirty="0">
                <a:solidFill>
                  <a:srgbClr val="006747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 1 ·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5092" y="1514713"/>
            <a:ext cx="10813256" cy="656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Key Findings — Titanic Survival Analysis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79043" y="2657237"/>
            <a:ext cx="298049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What the Data Reveals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79043" y="3179802"/>
            <a:ext cx="6323886" cy="207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Gender was the strongest predictor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— females had a 74% survival rate vs. 19% for males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Class mattered significantly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— 1st class passengers survived at nearly 3× the rate of 3rd class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Age analysis showed children had a notably higher survival probability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79043" y="5476161"/>
            <a:ext cx="6323886" cy="1497806"/>
          </a:xfrm>
          <a:prstGeom prst="roundRect">
            <a:avLst>
              <a:gd name="adj" fmla="val 12622"/>
            </a:avLst>
          </a:prstGeom>
          <a:solidFill>
            <a:srgbClr val="B3FF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069" y="5791081"/>
            <a:ext cx="262533" cy="2100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61628" y="5723096"/>
            <a:ext cx="5431274" cy="970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Social hierarchy and gender-based evacuation protocols are clearly reflected in the survival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06B2AA-16F5-4C06-539C-F34040038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101098"/>
            <a:ext cx="5273040" cy="4020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5896B6-6771-2B19-58BF-59AED0156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4731" y="7630456"/>
            <a:ext cx="2533749" cy="5649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5DB056-2AD9-178F-ACE0-2677F5B23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55320"/>
            <a:ext cx="5118411" cy="7598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89E820-7CDC-EB9B-44DA-87AFBF6B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776" y="655320"/>
            <a:ext cx="5000718" cy="7598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AA9C3-573A-0B4E-789D-E2D4C531D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1494" y="655320"/>
            <a:ext cx="4638906" cy="75742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8C3664-D432-E29C-5562-31A0B7D7790C}"/>
              </a:ext>
            </a:extLst>
          </p:cNvPr>
          <p:cNvSpPr txBox="1"/>
          <p:nvPr/>
        </p:nvSpPr>
        <p:spPr>
          <a:xfrm>
            <a:off x="351870" y="15240"/>
            <a:ext cx="499527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 and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71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57B85-A83F-AAE6-52CA-BF50027B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6976678" cy="761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F4E541-A19A-9365-779F-4076D4FF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678" y="609600"/>
            <a:ext cx="7653722" cy="7619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0AFEBE-6802-F49C-AA00-C2A340374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5" y="24346"/>
            <a:ext cx="5182049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0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A7753-E294-DFE8-1434-A8652632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480"/>
            <a:ext cx="14630400" cy="7437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CC3417-68B3-8089-6405-5A38CBC4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5" y="0"/>
            <a:ext cx="5182049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110" y="310574"/>
            <a:ext cx="3138130" cy="1178600"/>
          </a:xfrm>
          <a:prstGeom prst="roundRect">
            <a:avLst>
              <a:gd name="adj" fmla="val 38315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20923"/>
            <a:ext cx="2163842" cy="953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833205"/>
            <a:ext cx="70180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IPL Sports Data Analysis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30436" y="2882145"/>
            <a:ext cx="6684764" cy="4626531"/>
          </a:xfrm>
          <a:prstGeom prst="roundRect">
            <a:avLst>
              <a:gd name="adj" fmla="val 8103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108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Project Goal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3690104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Analyze IPL match-level ball-by-ball data to evaluate player performance, team statistics, and match outcomes across seasons.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7250" y="50056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Dataset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7250" y="5586770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deliveries.csv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— ball-by-ball match records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Thousands of rows covering multiple IPL seasons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Fields: batsman, bowler, runs, wickets, team, match ID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99521" y="3137297"/>
            <a:ext cx="3008948" cy="1798677"/>
          </a:xfrm>
          <a:prstGeom prst="roundRect">
            <a:avLst>
              <a:gd name="adj" fmla="val 1135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3955" y="3371731"/>
            <a:ext cx="25400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🏏</a:t>
            </a:r>
            <a:r>
              <a:rPr lang="en-US" sz="22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Batsmen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33955" y="3975735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Total runs, strike rate, boundaries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835283" y="3137297"/>
            <a:ext cx="3008948" cy="1798677"/>
          </a:xfrm>
          <a:prstGeom prst="roundRect">
            <a:avLst>
              <a:gd name="adj" fmla="val 11350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9717" y="3371731"/>
            <a:ext cx="254007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🎯</a:t>
            </a:r>
            <a:r>
              <a:rPr lang="en-US" sz="22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Bowlers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69717" y="3975735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Wickets, economy rate, dot balls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99521" y="5162788"/>
            <a:ext cx="6244709" cy="1435775"/>
          </a:xfrm>
          <a:prstGeom prst="roundRect">
            <a:avLst>
              <a:gd name="adj" fmla="val 1421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3955" y="5397222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🏆</a:t>
            </a:r>
            <a:r>
              <a:rPr lang="en-US" sz="22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Teams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33955" y="6001226"/>
            <a:ext cx="57758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Win rates, total scores, consistency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F85D7D-3533-7806-6392-6B57C27E0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899" y="7737135"/>
            <a:ext cx="2308581" cy="492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5092" y="506016"/>
            <a:ext cx="3333988" cy="930949"/>
          </a:xfrm>
          <a:prstGeom prst="roundRect">
            <a:avLst>
              <a:gd name="adj" fmla="val 37805"/>
            </a:avLst>
          </a:prstGeom>
          <a:noFill/>
          <a:ln w="7620">
            <a:solidFill>
              <a:srgbClr val="006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3345" y="829330"/>
            <a:ext cx="2407920" cy="86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006747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 2 ·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5092" y="1514713"/>
            <a:ext cx="10461427" cy="656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IPL Analysis — Performance Highlights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5092" y="2681526"/>
            <a:ext cx="931006" cy="179700"/>
          </a:xfrm>
          <a:prstGeom prst="roundRect">
            <a:avLst>
              <a:gd name="adj" fmla="val 712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45" y="2721444"/>
            <a:ext cx="99862" cy="998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6494" y="2706491"/>
            <a:ext cx="681351" cy="12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Top Performer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732673" y="2681526"/>
            <a:ext cx="1003692" cy="179700"/>
          </a:xfrm>
          <a:prstGeom prst="roundRect">
            <a:avLst>
              <a:gd name="adj" fmla="val 712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926" y="2721444"/>
            <a:ext cx="99862" cy="998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4075" y="2706491"/>
            <a:ext cx="754037" cy="12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League Average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579043" y="2657237"/>
            <a:ext cx="298049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What the Data Reveals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579043" y="3179802"/>
            <a:ext cx="6323886" cy="207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Top batsmen</a:t>
            </a: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significantly outpace the league average in both total runs and strike 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Elite bowlers</a:t>
            </a: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claim more than double the average wickets with a tighter economy 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 small set of teams consistently dominate total run aggregates across seasons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579043" y="5476161"/>
            <a:ext cx="6323886" cy="1497806"/>
          </a:xfrm>
          <a:prstGeom prst="roundRect">
            <a:avLst>
              <a:gd name="adj" fmla="val 12622"/>
            </a:avLst>
          </a:prstGeom>
          <a:solidFill>
            <a:srgbClr val="B3FFE7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069" y="5791081"/>
            <a:ext cx="262533" cy="2100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61628" y="5723096"/>
            <a:ext cx="5431274" cy="970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Key Insight: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Performance in the IPL is heavily concentrated — a handful of elite players drive the majority of impactful outcomes.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A52F6-06B8-164B-351F-B92378674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77" y="3026013"/>
            <a:ext cx="6611273" cy="4349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20456D-355B-0640-87FC-205DEB51C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3005" y="7782855"/>
            <a:ext cx="2225475" cy="324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A1670-AE0A-29CD-7AA6-D4947D58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280"/>
            <a:ext cx="5181600" cy="7513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971E0-CEF2-BEDF-34DF-0995FECE0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520" y="716280"/>
            <a:ext cx="5458587" cy="7513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83E1E-14A4-B5BD-F4F2-B73E4884F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005840"/>
            <a:ext cx="5763346" cy="7223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25073C-E918-763B-9B9A-4489C37CC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75" y="0"/>
            <a:ext cx="5182049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53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6AE23-27EF-F705-D6E9-CF7A6B7E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4772691" cy="7574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6E0594-BD80-B5E4-F49D-6C8E0D27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15" y="777240"/>
            <a:ext cx="5010849" cy="7452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337B10-C795-EA25-20D9-CBBB71A91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664" y="777240"/>
            <a:ext cx="5251736" cy="7452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8A3E3-01EF-4E19-598C-6DDCFB544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35" y="0"/>
            <a:ext cx="5182049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30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464999"/>
            <a:ext cx="2086570" cy="694076"/>
          </a:xfrm>
          <a:prstGeom prst="roundRect">
            <a:avLst>
              <a:gd name="adj" fmla="val 38991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1044892" y="696128"/>
            <a:ext cx="1835468" cy="517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SUMMARY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240869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What I Learned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6925" y="2759988"/>
            <a:ext cx="6095762" cy="215384"/>
          </a:xfrm>
          <a:prstGeom prst="roundRect">
            <a:avLst>
              <a:gd name="adj" fmla="val 9004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3790" y="2544425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358" y="2705993"/>
            <a:ext cx="323136" cy="3231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9174" y="3395543"/>
            <a:ext cx="42200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Data Cleaning &amp; Preprocessing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9174" y="3854887"/>
            <a:ext cx="59882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Handling missing values, dropping irrelevant columns, and standardizing datasets for analysis-ready quality.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40610" y="2436852"/>
            <a:ext cx="6095881" cy="215384"/>
          </a:xfrm>
          <a:prstGeom prst="roundRect">
            <a:avLst>
              <a:gd name="adj" fmla="val 9004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17475" y="2221290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043" y="2382857"/>
            <a:ext cx="323136" cy="3231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2859" y="3072408"/>
            <a:ext cx="354782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Exploratory Data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632859" y="3531751"/>
            <a:ext cx="59883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Used Pandas, NumPy, Matplotlib, and Seaborn to explore, summarize, and visualize real-world datasets.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116925" y="5485805"/>
            <a:ext cx="6095762" cy="215384"/>
          </a:xfrm>
          <a:prstGeom prst="roundRect">
            <a:avLst>
              <a:gd name="adj" fmla="val 9004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3790" y="5270242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358" y="5431810"/>
            <a:ext cx="323136" cy="3231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9174" y="6121360"/>
            <a:ext cx="391715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Deriving Actionable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009174" y="6580703"/>
            <a:ext cx="59882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Translated raw data into meaningful conclusions — from Titanic survival patterns to IPL player dominance.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740610" y="5162669"/>
            <a:ext cx="6095881" cy="215384"/>
          </a:xfrm>
          <a:prstGeom prst="roundRect">
            <a:avLst>
              <a:gd name="adj" fmla="val 9004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17475" y="4947106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9043" y="5108674"/>
            <a:ext cx="323136" cy="3231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2859" y="5798225"/>
            <a:ext cx="362295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Improved Analytical Skills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632859" y="6257568"/>
            <a:ext cx="59883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Developed a structured approach to problem-solving with data — a foundation for advanced analytics 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6C144ED-29B4-48CA-98FB-A9D76792A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6594" y="7809310"/>
            <a:ext cx="2203806" cy="4913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3566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Thank You</a:t>
            </a:r>
            <a:endParaRPr lang="en-US" sz="6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408793"/>
            <a:ext cx="13042821" cy="35957"/>
          </a:xfrm>
          <a:prstGeom prst="rect">
            <a:avLst/>
          </a:prstGeom>
          <a:solidFill>
            <a:srgbClr val="4B4A4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6998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Thank you for your time and attention. I welcome any questions or feedback on my OJT Part 2 projects.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317921"/>
            <a:ext cx="13042821" cy="2047994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4325541"/>
            <a:ext cx="4342448" cy="2032754"/>
          </a:xfrm>
          <a:prstGeom prst="roundRect">
            <a:avLst>
              <a:gd name="adj" fmla="val 10043"/>
            </a:avLst>
          </a:prstGeom>
          <a:solidFill>
            <a:srgbClr val="D1EFE4"/>
          </a:solidFill>
          <a:ln/>
        </p:spPr>
      </p:sp>
      <p:sp>
        <p:nvSpPr>
          <p:cNvPr id="7" name="Text 5"/>
          <p:cNvSpPr/>
          <p:nvPr/>
        </p:nvSpPr>
        <p:spPr>
          <a:xfrm>
            <a:off x="1028224" y="4552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Presented By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224" y="5042773"/>
            <a:ext cx="38888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Tirthanand Singh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Roll No: FO1123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857" y="4325541"/>
            <a:ext cx="4342567" cy="2032754"/>
          </a:xfrm>
          <a:prstGeom prst="rect">
            <a:avLst/>
          </a:pr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5143857" y="4325541"/>
            <a:ext cx="30480" cy="2032754"/>
          </a:xfrm>
          <a:prstGeom prst="roundRect">
            <a:avLst>
              <a:gd name="adj" fmla="val 669768"/>
            </a:avLst>
          </a:prstGeom>
          <a:solidFill>
            <a:srgbClr val="B7D5CA"/>
          </a:solidFill>
          <a:ln/>
        </p:spPr>
      </p:sp>
      <p:sp>
        <p:nvSpPr>
          <p:cNvPr id="11" name="Text 9"/>
          <p:cNvSpPr/>
          <p:nvPr/>
        </p:nvSpPr>
        <p:spPr>
          <a:xfrm>
            <a:off x="5370671" y="4552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Organization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70671" y="5042773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SyntaxHub</a:t>
            </a: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OJT Internship · Part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486424" y="4325541"/>
            <a:ext cx="4342567" cy="2032754"/>
          </a:xfrm>
          <a:prstGeom prst="rect">
            <a:avLst/>
          </a:prstGeom>
          <a:solidFill>
            <a:srgbClr val="D1EFE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6424" y="4325541"/>
            <a:ext cx="30480" cy="2032754"/>
          </a:xfrm>
          <a:prstGeom prst="roundRect">
            <a:avLst>
              <a:gd name="adj" fmla="val 669768"/>
            </a:avLst>
          </a:prstGeom>
          <a:solidFill>
            <a:srgbClr val="B7D5CA"/>
          </a:solidFill>
          <a:ln/>
        </p:spPr>
      </p:sp>
      <p:sp>
        <p:nvSpPr>
          <p:cNvPr id="15" name="Text 13"/>
          <p:cNvSpPr/>
          <p:nvPr/>
        </p:nvSpPr>
        <p:spPr>
          <a:xfrm>
            <a:off x="9713238" y="4552355"/>
            <a:ext cx="2893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B4A4A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Ready for Questions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13238" y="5042773"/>
            <a:ext cx="388893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Open to discussion on methodology, tools, and insights from both projects.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1E7F14-9266-98DA-66E4-4FAA92B6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491" y="7737136"/>
            <a:ext cx="1802229" cy="4018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F2998-4060-C0E5-4131-612ACF93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3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723</Words>
  <Application>Microsoft Office PowerPoint</Application>
  <PresentationFormat>Custom</PresentationFormat>
  <Paragraphs>108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Nirala</dc:creator>
  <cp:lastModifiedBy>Tirthanand Singh</cp:lastModifiedBy>
  <cp:revision>5</cp:revision>
  <dcterms:created xsi:type="dcterms:W3CDTF">2026-04-01T12:10:48Z</dcterms:created>
  <dcterms:modified xsi:type="dcterms:W3CDTF">2026-04-06T03:26:58Z</dcterms:modified>
</cp:coreProperties>
</file>